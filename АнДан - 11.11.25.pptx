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4B9AEA-845A-4BFC-BBB0-900B0F93523A}">
  <a:tblStyle styleId="{154B9AEA-845A-4BFC-BBB0-900B0F9352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8c412f3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8c412f3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c412f3b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c412f3b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8c412f3b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8c412f3b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8c412f3b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8c412f3b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8c412f3b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8c412f3b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8c412f3b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8c412f3b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1ced148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1ced148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1ced148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1ced148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1ced1489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1ced148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meowmeowmeowmeowmeow/gtsrb-german-traffic-sign" TargetMode="External"/><Relationship Id="rId4" Type="http://schemas.openxmlformats.org/officeDocument/2006/relationships/hyperlink" Target="https://www.kaggle.com/datasets/meowmeowmeowmeowmeow/gtsrb-german-traffic-sign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3" Type="http://schemas.openxmlformats.org/officeDocument/2006/relationships/image" Target="../media/image8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15" Type="http://schemas.openxmlformats.org/officeDocument/2006/relationships/image" Target="../media/image6.png"/><Relationship Id="rId14" Type="http://schemas.openxmlformats.org/officeDocument/2006/relationships/image" Target="../media/image4.png"/><Relationship Id="rId17" Type="http://schemas.openxmlformats.org/officeDocument/2006/relationships/image" Target="../media/image13.png"/><Relationship Id="rId16" Type="http://schemas.openxmlformats.org/officeDocument/2006/relationships/image" Target="../media/image14.png"/><Relationship Id="rId5" Type="http://schemas.openxmlformats.org/officeDocument/2006/relationships/image" Target="../media/image7.png"/><Relationship Id="rId19" Type="http://schemas.openxmlformats.org/officeDocument/2006/relationships/image" Target="../media/image15.png"/><Relationship Id="rId6" Type="http://schemas.openxmlformats.org/officeDocument/2006/relationships/image" Target="../media/image2.png"/><Relationship Id="rId18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27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9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41.png"/><Relationship Id="rId22" Type="http://schemas.openxmlformats.org/officeDocument/2006/relationships/image" Target="../media/image44.png"/><Relationship Id="rId21" Type="http://schemas.openxmlformats.org/officeDocument/2006/relationships/image" Target="../media/image57.png"/><Relationship Id="rId24" Type="http://schemas.openxmlformats.org/officeDocument/2006/relationships/image" Target="../media/image42.png"/><Relationship Id="rId23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3.png"/><Relationship Id="rId26" Type="http://schemas.openxmlformats.org/officeDocument/2006/relationships/image" Target="../media/image62.png"/><Relationship Id="rId25" Type="http://schemas.openxmlformats.org/officeDocument/2006/relationships/image" Target="../media/image61.png"/><Relationship Id="rId28" Type="http://schemas.openxmlformats.org/officeDocument/2006/relationships/image" Target="../media/image48.png"/><Relationship Id="rId27" Type="http://schemas.openxmlformats.org/officeDocument/2006/relationships/image" Target="../media/image56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Relationship Id="rId29" Type="http://schemas.openxmlformats.org/officeDocument/2006/relationships/image" Target="../media/image60.png"/><Relationship Id="rId7" Type="http://schemas.openxmlformats.org/officeDocument/2006/relationships/image" Target="../media/image36.png"/><Relationship Id="rId8" Type="http://schemas.openxmlformats.org/officeDocument/2006/relationships/image" Target="../media/image32.png"/><Relationship Id="rId31" Type="http://schemas.openxmlformats.org/officeDocument/2006/relationships/image" Target="../media/image59.png"/><Relationship Id="rId30" Type="http://schemas.openxmlformats.org/officeDocument/2006/relationships/image" Target="../media/image51.png"/><Relationship Id="rId11" Type="http://schemas.openxmlformats.org/officeDocument/2006/relationships/image" Target="../media/image39.png"/><Relationship Id="rId33" Type="http://schemas.openxmlformats.org/officeDocument/2006/relationships/image" Target="../media/image47.png"/><Relationship Id="rId10" Type="http://schemas.openxmlformats.org/officeDocument/2006/relationships/image" Target="../media/image33.png"/><Relationship Id="rId32" Type="http://schemas.openxmlformats.org/officeDocument/2006/relationships/image" Target="../media/image58.png"/><Relationship Id="rId13" Type="http://schemas.openxmlformats.org/officeDocument/2006/relationships/image" Target="../media/image35.png"/><Relationship Id="rId35" Type="http://schemas.openxmlformats.org/officeDocument/2006/relationships/image" Target="../media/image53.png"/><Relationship Id="rId12" Type="http://schemas.openxmlformats.org/officeDocument/2006/relationships/image" Target="../media/image49.png"/><Relationship Id="rId34" Type="http://schemas.openxmlformats.org/officeDocument/2006/relationships/image" Target="../media/image52.png"/><Relationship Id="rId15" Type="http://schemas.openxmlformats.org/officeDocument/2006/relationships/image" Target="../media/image37.png"/><Relationship Id="rId14" Type="http://schemas.openxmlformats.org/officeDocument/2006/relationships/image" Target="../media/image54.png"/><Relationship Id="rId17" Type="http://schemas.openxmlformats.org/officeDocument/2006/relationships/image" Target="../media/image46.png"/><Relationship Id="rId16" Type="http://schemas.openxmlformats.org/officeDocument/2006/relationships/image" Target="../media/image38.png"/><Relationship Id="rId19" Type="http://schemas.openxmlformats.org/officeDocument/2006/relationships/image" Target="../media/image50.png"/><Relationship Id="rId18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80"/>
              <a:t>Классификация изображений дорожных знаков</a:t>
            </a:r>
            <a:endParaRPr sz="1879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380"/>
              <a:t>Муслин Артемий, Панин Егор, Тараканов Денис, Яшина Нина</a:t>
            </a:r>
            <a:endParaRPr sz="13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8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20"/>
              <a:t>Цель проекта</a:t>
            </a:r>
            <a:endParaRPr b="1" sz="1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90620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Целью проекта является разработка и исследование нейросетевых моделей глубокого обучения для автоматической классификации дорожных знаков на изображениях.</a:t>
            </a:r>
            <a:br>
              <a:rPr lang="ru" sz="1100">
                <a:solidFill>
                  <a:schemeClr val="dk1"/>
                </a:solidFill>
              </a:rPr>
            </a:br>
            <a:r>
              <a:rPr lang="ru" sz="1100">
                <a:solidFill>
                  <a:schemeClr val="dk1"/>
                </a:solidFill>
              </a:rPr>
              <a:t>В ходе работы будут реализованы две архитектуры: ResNet (CNN) и Vision Transformer (ViT) - и проведено их сравнение по точности и вычислительной эффективности.</a:t>
            </a:r>
            <a:br>
              <a:rPr lang="ru" sz="1100">
                <a:solidFill>
                  <a:schemeClr val="dk1"/>
                </a:solidFill>
              </a:rPr>
            </a:br>
            <a:r>
              <a:rPr lang="ru" sz="1100">
                <a:solidFill>
                  <a:schemeClr val="dk1"/>
                </a:solidFill>
              </a:rPr>
              <a:t>Результаты будут представлены в виде компьютерной программы, экспериментального </a:t>
            </a:r>
            <a:r>
              <a:rPr lang="ru" sz="1100">
                <a:solidFill>
                  <a:schemeClr val="dk1"/>
                </a:solidFill>
              </a:rPr>
              <a:t>отчета</a:t>
            </a:r>
            <a:r>
              <a:rPr lang="ru" sz="1100">
                <a:solidFill>
                  <a:schemeClr val="dk1"/>
                </a:solidFill>
              </a:rPr>
              <a:t> и презентации.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226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2654025"/>
            <a:ext cx="8520600" cy="21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В современных системах помощи водителю (ADAS) и автономного транспорта необходимо быстро и точно распознавать дорожные знаки.</a:t>
            </a:r>
            <a:br>
              <a:rPr lang="ru" sz="1100">
                <a:solidFill>
                  <a:schemeClr val="dk1"/>
                </a:solidFill>
              </a:rPr>
            </a:br>
            <a:r>
              <a:rPr lang="ru" sz="1100">
                <a:solidFill>
                  <a:schemeClr val="dk1"/>
                </a:solidFill>
              </a:rPr>
              <a:t>Для решения этой задачи требуется обучить модели, способные классифицировать изображения с дорожными знаками разных типов при изменении освещения, ракурса и фона.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В рамках проекта пла</a:t>
            </a:r>
            <a:r>
              <a:rPr lang="ru" sz="1100">
                <a:solidFill>
                  <a:schemeClr val="dk1"/>
                </a:solidFill>
              </a:rPr>
              <a:t>н</a:t>
            </a:r>
            <a:r>
              <a:rPr lang="ru" sz="1100">
                <a:solidFill>
                  <a:schemeClr val="dk1"/>
                </a:solidFill>
              </a:rPr>
              <a:t>ируется:</a:t>
            </a:r>
            <a:endParaRPr sz="1100">
              <a:solidFill>
                <a:schemeClr val="dk1"/>
              </a:solidFill>
            </a:endParaRPr>
          </a:p>
          <a:p>
            <a:pPr indent="-260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lang="ru" sz="1100">
                <a:solidFill>
                  <a:schemeClr val="dk1"/>
                </a:solidFill>
              </a:rPr>
              <a:t>обучение моделей глубокого обучения на датасете GTSRB;</a:t>
            </a:r>
            <a:endParaRPr sz="1100">
              <a:solidFill>
                <a:schemeClr val="dk1"/>
              </a:solidFill>
            </a:endParaRPr>
          </a:p>
          <a:p>
            <a:pPr indent="-260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lang="ru" sz="1100">
                <a:solidFill>
                  <a:schemeClr val="dk1"/>
                </a:solidFill>
              </a:rPr>
              <a:t>реализация и сравнение двух различных архитектур нейросетей;</a:t>
            </a:r>
            <a:endParaRPr sz="1100">
              <a:solidFill>
                <a:schemeClr val="dk1"/>
              </a:solidFill>
            </a:endParaRPr>
          </a:p>
          <a:p>
            <a:pPr indent="-260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</a:pPr>
            <a:r>
              <a:rPr lang="ru" sz="1100">
                <a:solidFill>
                  <a:schemeClr val="dk1"/>
                </a:solidFill>
              </a:rPr>
              <a:t>анализ точности, устойчивости и скорости работы моделей;</a:t>
            </a:r>
            <a:endParaRPr sz="1100">
              <a:solidFill>
                <a:schemeClr val="dk1"/>
              </a:solidFill>
            </a:endParaRPr>
          </a:p>
          <a:p>
            <a:pPr indent="-2667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●"/>
            </a:pPr>
            <a:r>
              <a:rPr lang="ru" sz="1100">
                <a:solidFill>
                  <a:schemeClr val="dk1"/>
                </a:solidFill>
              </a:rPr>
              <a:t>подготовка отчёта и демонстрационной программы.</a:t>
            </a:r>
            <a:br>
              <a:rPr lang="ru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ru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2207000"/>
            <a:ext cx="8520600" cy="441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dk1"/>
                </a:solidFill>
              </a:rPr>
              <a:t>Актуальность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1820"/>
              <a:t>Информация о проекте</a:t>
            </a:r>
            <a:endParaRPr b="1" sz="182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136"/>
              <a:buFont typeface="Arial"/>
              <a:buNone/>
            </a:pPr>
            <a:r>
              <a:rPr b="1" lang="ru" sz="3650">
                <a:solidFill>
                  <a:schemeClr val="dk1"/>
                </a:solidFill>
              </a:rPr>
              <a:t>GTSRB (German Traffic Sign Recognition Benchmark)</a:t>
            </a:r>
            <a:endParaRPr b="1" sz="3650">
              <a:solidFill>
                <a:schemeClr val="dk1"/>
              </a:solidFill>
            </a:endParaRPr>
          </a:p>
          <a:p>
            <a:pPr indent="-303926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Датасет:</a:t>
            </a:r>
            <a:r>
              <a:rPr lang="ru" sz="365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u" sz="365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 – GTSRB German Traffic Sign Dataset</a:t>
            </a:r>
            <a:endParaRPr sz="3650" u="sng">
              <a:solidFill>
                <a:schemeClr val="accent1"/>
              </a:solidFill>
            </a:endParaRPr>
          </a:p>
          <a:p>
            <a:pPr indent="-30392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Объем</a:t>
            </a:r>
            <a:r>
              <a:rPr lang="ru" sz="3650">
                <a:solidFill>
                  <a:schemeClr val="dk1"/>
                </a:solidFill>
              </a:rPr>
              <a:t>: около 50 000 изображений.</a:t>
            </a:r>
            <a:endParaRPr sz="3650">
              <a:solidFill>
                <a:schemeClr val="dk1"/>
              </a:solidFill>
            </a:endParaRPr>
          </a:p>
          <a:p>
            <a:pPr indent="-30392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Количество классов: 43 типа дорожных знаков.</a:t>
            </a:r>
            <a:endParaRPr sz="3650">
              <a:solidFill>
                <a:schemeClr val="dk1"/>
              </a:solidFill>
            </a:endParaRPr>
          </a:p>
          <a:p>
            <a:pPr indent="-30392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Формат изображений: RGB, размеры 32×32 – 64×64 пикселей.</a:t>
            </a:r>
            <a:endParaRPr sz="3650">
              <a:solidFill>
                <a:schemeClr val="dk1"/>
              </a:solidFill>
            </a:endParaRPr>
          </a:p>
          <a:p>
            <a:pPr indent="-30392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Тип задачи: многоклассовая классификация изображений.</a:t>
            </a:r>
            <a:endParaRPr sz="365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136"/>
              <a:buFont typeface="Arial"/>
              <a:buNone/>
            </a:pPr>
            <a:r>
              <a:rPr b="1" lang="ru" sz="3650">
                <a:solidFill>
                  <a:schemeClr val="dk1"/>
                </a:solidFill>
              </a:rPr>
              <a:t>Участник и задачи:</a:t>
            </a:r>
            <a:endParaRPr b="1" sz="3650">
              <a:solidFill>
                <a:schemeClr val="dk1"/>
              </a:solidFill>
            </a:endParaRPr>
          </a:p>
          <a:p>
            <a:pPr indent="-303926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Яшина Нина: поиск и предобработка датасета</a:t>
            </a:r>
            <a:endParaRPr sz="3650">
              <a:solidFill>
                <a:schemeClr val="dk1"/>
              </a:solidFill>
            </a:endParaRPr>
          </a:p>
          <a:p>
            <a:pPr indent="-30392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Тараканов Денис: обучение модели </a:t>
            </a:r>
            <a:r>
              <a:rPr lang="ru" sz="3650">
                <a:solidFill>
                  <a:schemeClr val="dk1"/>
                </a:solidFill>
              </a:rPr>
              <a:t>ResNet-18</a:t>
            </a:r>
            <a:endParaRPr sz="3650">
              <a:solidFill>
                <a:schemeClr val="dk1"/>
              </a:solidFill>
            </a:endParaRPr>
          </a:p>
          <a:p>
            <a:pPr indent="-303926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 sz="3650">
                <a:solidFill>
                  <a:schemeClr val="dk1"/>
                </a:solidFill>
              </a:rPr>
              <a:t>Муслин Артемий: обучение модели ViT</a:t>
            </a:r>
            <a:endParaRPr sz="3650">
              <a:solidFill>
                <a:schemeClr val="dk1"/>
              </a:solidFill>
            </a:endParaRPr>
          </a:p>
          <a:p>
            <a:pPr indent="-311527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89"/>
              <a:buChar char="●"/>
            </a:pPr>
            <a:r>
              <a:rPr lang="ru" sz="3650">
                <a:solidFill>
                  <a:schemeClr val="dk1"/>
                </a:solidFill>
              </a:rPr>
              <a:t>Панин Егор: сравнительный анализ моделей, подведение итогов</a:t>
            </a:r>
            <a:br>
              <a:rPr lang="ru" sz="4018">
                <a:solidFill>
                  <a:schemeClr val="dk1"/>
                </a:solidFill>
              </a:rPr>
            </a:br>
            <a:endParaRPr sz="401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Примеры изображений из датасета из папки Meta</a:t>
            </a:r>
            <a:endParaRPr b="1"/>
          </a:p>
        </p:txBody>
      </p:sp>
      <p:pic>
        <p:nvPicPr>
          <p:cNvPr id="75" name="Google Shape;75;p16" title="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650" y="1170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0500" y="11987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975" y="22750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1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5400" y="1170125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1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28500" y="2332175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42300" y="3574600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2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96000" y="3506325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22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55475" y="2275025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23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87825" y="3379925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24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06125" y="2275025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31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56800" y="1170125"/>
            <a:ext cx="9525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32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756800" y="2315213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33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52100" y="1170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34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047200" y="35746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7200" y="22750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title="37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500575" y="357460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39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79650" y="33799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41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640300" y="1170125"/>
            <a:ext cx="830125" cy="8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Примеры изображений из датасета из папки Test</a:t>
            </a:r>
            <a:endParaRPr b="1"/>
          </a:p>
        </p:txBody>
      </p:sp>
      <p:pic>
        <p:nvPicPr>
          <p:cNvPr id="98" name="Google Shape;98;p17" title="000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25" y="1398550"/>
            <a:ext cx="927875" cy="9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000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5700" y="1170125"/>
            <a:ext cx="1346050" cy="14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0001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0600" y="3168050"/>
            <a:ext cx="1682900" cy="16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 title="000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818125"/>
            <a:ext cx="1732397" cy="16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 title="0003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9300" y="2665725"/>
            <a:ext cx="1346050" cy="138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0006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7750" y="1170125"/>
            <a:ext cx="1555125" cy="158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0008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55275" y="1170125"/>
            <a:ext cx="1555125" cy="1528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00229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47750" y="2907000"/>
            <a:ext cx="1743004" cy="16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00224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37197" y="2818125"/>
            <a:ext cx="959703" cy="97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0048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83702" y="1406319"/>
            <a:ext cx="1112100" cy="11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120"/>
              <a:t>Примеры изображений из датасета из подпапки папки Train</a:t>
            </a:r>
            <a:endParaRPr b="1" sz="1520"/>
          </a:p>
        </p:txBody>
      </p:sp>
      <p:pic>
        <p:nvPicPr>
          <p:cNvPr id="113" name="Google Shape;113;p18" title="00026_00000_000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1422833"/>
            <a:ext cx="695325" cy="726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 title="00026_00000_000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4338" y="2266950"/>
            <a:ext cx="6953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 title="00026_00001_000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7072" y="4156933"/>
            <a:ext cx="695325" cy="68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 title="00026_00001_0001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005" y="3357200"/>
            <a:ext cx="876300" cy="825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title="00026_00001_0002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6713" y="2190750"/>
            <a:ext cx="7905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 title="00026_00002_0000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5479" y="1916175"/>
            <a:ext cx="619125" cy="581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 title="00026_00002_0002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7588" y="2194025"/>
            <a:ext cx="790575" cy="755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 title="00026_00003_00004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05546" y="2793272"/>
            <a:ext cx="695325" cy="63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00026_00003_00009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20462" y="1768525"/>
            <a:ext cx="695325" cy="676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title="00026_00004_00011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0606" y="2299350"/>
            <a:ext cx="611265" cy="5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00026_00004_00028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62400" y="2038350"/>
            <a:ext cx="12192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00026_00005_00019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290042" y="4344775"/>
            <a:ext cx="619125" cy="544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00026_00006_00007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757286" y="3980150"/>
            <a:ext cx="695325" cy="61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00026_00007_00016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204321" y="3520175"/>
            <a:ext cx="790575" cy="72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00026_00007_00029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431822" y="3118100"/>
            <a:ext cx="790575" cy="751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00026_00008_00012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568324" y="4040599"/>
            <a:ext cx="695325" cy="64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00026_00009_00009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874936" y="1258013"/>
            <a:ext cx="790575" cy="76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 title="00026_00009_00028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05275" y="2133600"/>
            <a:ext cx="93345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00026_00010_00003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390986" y="4249975"/>
            <a:ext cx="790575" cy="741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title="00026_00010_00018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423007" y="1391599"/>
            <a:ext cx="695325" cy="64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title="00026_00011_00006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901184" y="2799442"/>
            <a:ext cx="695325" cy="61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title="00026_00011_00022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133850" y="2185988"/>
            <a:ext cx="87630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 title="00026_00012_00001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581376" y="3181054"/>
            <a:ext cx="695325" cy="62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 title="00026_00012_00011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707424" y="3623103"/>
            <a:ext cx="790575" cy="694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title="00026_00012_00025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443982" y="3239941"/>
            <a:ext cx="695325" cy="640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 title="00026_00013_00014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025428" y="1292289"/>
            <a:ext cx="6191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title="00026_00014_00020.png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4100513" y="2147888"/>
            <a:ext cx="942975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title="00026_00014_00027.png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5738813" y="1523988"/>
            <a:ext cx="1400175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title="00026_00015_00010.png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7524638" y="1685913"/>
            <a:ext cx="98107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title="00026_00015_00027.png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8179425" y="3457589"/>
            <a:ext cx="790575" cy="716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title="00026_00016_00012.png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6143500" y="2799442"/>
            <a:ext cx="876300" cy="8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title="00026_00019_00014.png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6443685" y="3961375"/>
            <a:ext cx="695325" cy="62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title="00026_00019_00025.png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7886588" y="2738450"/>
            <a:ext cx="619125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type="title"/>
          </p:nvPr>
        </p:nvSpPr>
        <p:spPr>
          <a:xfrm>
            <a:off x="311700" y="26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Модели</a:t>
            </a:r>
            <a:endParaRPr b="1"/>
          </a:p>
        </p:txBody>
      </p:sp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311700" y="914350"/>
            <a:ext cx="4160100" cy="3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50">
                <a:solidFill>
                  <a:schemeClr val="dk1"/>
                </a:solidFill>
              </a:rPr>
              <a:t>ResNet-18</a:t>
            </a:r>
            <a:r>
              <a:rPr lang="ru" sz="1050">
                <a:solidFill>
                  <a:schemeClr val="dk1"/>
                </a:solidFill>
              </a:rPr>
              <a:t> - </a:t>
            </a: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это архитектура </a:t>
            </a: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сверточной</a:t>
            </a: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 нейронной сети (CNN) из семейства ResNet (Residual Network). Разработана в 2015 году Kaiming He и коллегами из Microsoft Research Asia.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Структура ResNet-18 включает 18 слоёв, включая </a:t>
            </a: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сверточные</a:t>
            </a: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 слои, пакетную нормализацию и функции активации ReLU. Модель начинается с слоя конволюции 16×3×3, за которым следуют слои нормализации и активации. 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Некоторые ключевые компоненты: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Сверточные</a:t>
            </a: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 слои. Отвечают за извлечение признаков из входных изображений.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Пакетная нормализация. Нормализует выход предыдущего слоя, улучшая стабильность и скорость процесса обучения.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ru" sz="1050">
                <a:solidFill>
                  <a:schemeClr val="dk1"/>
                </a:solidFill>
                <a:highlight>
                  <a:schemeClr val="lt1"/>
                </a:highlight>
              </a:rPr>
              <a:t>Активация ReLU. Вводит в модель нелинейность, позволяя ей изучать сложные закономерности.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Данная модель хорошо подходит для задач классификации и распознавания изображений на наборах данных</a:t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4572000" y="914350"/>
            <a:ext cx="4260300" cy="4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chemeClr val="dk1"/>
                </a:solidFill>
              </a:rPr>
              <a:t>Vision Transformer</a:t>
            </a:r>
            <a:r>
              <a:rPr lang="ru" sz="1000">
                <a:solidFill>
                  <a:schemeClr val="dk1"/>
                </a:solidFill>
              </a:rPr>
              <a:t> - это архитектура, основанная на идее трансформеров, изначально применявшихся в обработке текста (NLP). Главная идея ViT - рассматривать изображение как последовательность патчей (кусочков), подобно тому, как текст разбивается на слова.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Этапы работы модели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>
                <a:solidFill>
                  <a:schemeClr val="dk1"/>
                </a:solidFill>
              </a:rPr>
              <a:t>Изображение делится на небольшие патчи (например, 16×16 пикселей).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>
                <a:solidFill>
                  <a:schemeClr val="dk1"/>
                </a:solidFill>
              </a:rPr>
              <a:t>Каждый патч превращается в вектор (embedding).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>
                <a:solidFill>
                  <a:schemeClr val="dk1"/>
                </a:solidFill>
              </a:rPr>
              <a:t>Вектора подаются в механизм самовнимания (self-attention), который вычисляет, какие области изображения наиболее важны.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>
                <a:solidFill>
                  <a:schemeClr val="dk1"/>
                </a:solidFill>
              </a:rPr>
              <a:t>Выход сети это вектор, представляющий всё изображение, который используется для классификации.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Данная модель </a:t>
            </a:r>
            <a:r>
              <a:rPr lang="ru" sz="1000">
                <a:solidFill>
                  <a:schemeClr val="dk1"/>
                </a:solidFill>
              </a:rPr>
              <a:t>видит изображение целиком, а не по локальным фрагментам, поэтому хорошо различает контекст и взаимное расположение объектов.Используется в современных системах распознавания дорожных знаков, автономных автомобилей и робототехнике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метрик на тестовом наборе</a:t>
            </a:r>
            <a:endParaRPr/>
          </a:p>
        </p:txBody>
      </p:sp>
      <p:graphicFrame>
        <p:nvGraphicFramePr>
          <p:cNvPr id="158" name="Google Shape;158;p20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{154B9AEA-845A-4BFC-BBB0-900B0F93523A}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Модель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Точность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Количество параметров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Vision Transformer (ViT)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97,91 %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97,5%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97,8%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97,3%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~86 млн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ResNet -18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6,21%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4,70%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4,69%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4,75%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~11 млн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190350" y="202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</a:t>
            </a:r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311700" y="881750"/>
            <a:ext cx="85206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Модель ViT  показала хорошие результаты и на обучающем (99,3%), и на тестовом наборе (97,91%)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Модель ResNet-18:</a:t>
            </a:r>
            <a:endParaRPr sz="16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Финальная точность на тестовом наборе составляет 6.21%. </a:t>
            </a:r>
            <a:r>
              <a:rPr lang="ru" sz="1600"/>
              <a:t>Это не показатель точности модели, а следствие утечки данных во время формирования обучающей и валидационной выборок либо некорректного разбиения датасета. В результате модель фактически видит одинаковые или сильно коррелированные примеры в train и val, что создаёт иллюзию почти идеального качества и не отражает реальную способность к обобщению.</a:t>
            </a:r>
            <a:endParaRPr sz="1600"/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975" y="2899000"/>
            <a:ext cx="5254645" cy="18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Ссылки</a:t>
            </a:r>
            <a:endParaRPr/>
          </a:p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405050" y="3539975"/>
            <a:ext cx="8520600" cy="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50">
                <a:solidFill>
                  <a:schemeClr val="dk1"/>
                </a:solidFill>
              </a:rPr>
              <a:t>Яшина Нина, Тараканов Денис, Муслин Артемий, Панин Егор</a:t>
            </a:r>
            <a:endParaRPr sz="200"/>
          </a:p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311700" y="1279100"/>
            <a:ext cx="8520600" cy="16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50">
                <a:solidFill>
                  <a:schemeClr val="dk1"/>
                </a:solidFill>
              </a:rPr>
              <a:t>Гитхаб - https://github.com/wraxau/Traffic_Sign_Recognition</a:t>
            </a:r>
            <a:endParaRPr sz="16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50">
                <a:solidFill>
                  <a:schemeClr val="dk1"/>
                </a:solidFill>
              </a:rPr>
              <a:t>Google colab 1 часть - https://colab.research.google.com/drive/1TT-2PnEWZVq-SYljasfB-7FuSbVNbK-r?usp=sharing</a:t>
            </a:r>
            <a:br>
              <a:rPr lang="ru" sz="1650">
                <a:solidFill>
                  <a:schemeClr val="dk1"/>
                </a:solidFill>
              </a:rPr>
            </a:br>
            <a:r>
              <a:rPr lang="ru" sz="1650">
                <a:solidFill>
                  <a:schemeClr val="dk1"/>
                </a:solidFill>
              </a:rPr>
              <a:t>Google colab 2 часть - https://colab.research.google.com/drive/1oCW0W7eIFKh4LH_v4cLeR5qgt23OWY9S?usp=sharing</a:t>
            </a:r>
            <a:endParaRPr sz="16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